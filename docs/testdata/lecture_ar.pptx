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comments/comment1.xml" ContentType="application/vnd.openxmlformats-officedocument.presentationml.comments+xml"/>
  <Override PartName="/ppt/commentAuthors.xml" ContentType="application/vnd.openxmlformats-officedocument.presentationml.commentAuthors+xml"/>
  <Override PartName="/ppt/comments/modernComment_1.xml" ContentType="application/vnd.ms-powerpoint.comments+xml"/>
  <Override PartName="/ppt/authors.xml" ContentType="application/vnd.ms-powerpoint.author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p188="http://schemas.microsoft.com/office/powerpoint/2018/8/main">
  <p188:author id="{11111111-AAAA-BBBB-CCCC-000000000001}" name="Prof. Karim" initials="PK" userId="Prof. Karim" providerId="None"/>
  <p188:author id="{11111111-AAAA-BBBB-CCCC-000000000002}" name="Lina" initials="L" userId="Lina" providerId="None"/>
</p188:authorLst>
</file>

<file path=ppt/commentAuthors.xml><?xml version="1.0" encoding="utf-8"?>
<p:cmAuthorLst xmlns:p="http://schemas.openxmlformats.org/presentationml/2006/main" xmlns:a="http://schemas.openxmlformats.org/drawingml/2006/main">
  <p:cmAuthor id="0" name="Dr. Smith" initials="DS" lastIdx="2" clrIdx="0"/>
  <p:cmAuthor id="1" name="Sara Ali" initials="S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CA" Type="http://schemas.openxmlformats.org/officeDocument/2006/relationships/commentAuthors" Target="commentAuthors.xml"/><Relationship Id="rIdAU" Type="http://schemas.microsoft.com/office/2018/10/relationships/authors" Target="authors.xml"/></Relationships>
</file>

<file path=ppt/comments/comment1.xml><?xml version="1.0" encoding="utf-8"?>
<p:cmLst xmlns:p="http://schemas.openxmlformats.org/presentationml/2006/main" xmlns:a="http://schemas.openxmlformats.org/drawingml/2006/main" xmlns:p15="http://schemas.microsoft.com/office/powerpoint/2012/main">
  <p:cm authorId="0" dt="2026-09-20T10:15:00.000" idx="1">
    <p:pos x="10" y="10"/>
    <p:text>راجع هذا التعريف قبل الامتحان</p:text>
  </p:cm>
  <p:cm authorId="1" dt="2026-09-21T08:00:00.000" idx="1">
    <p:pos x="10" y="10"/>
    <p:text>شكرًا، سأفعل</p:text>
    <p:extLst>
      <p:ext uri="{C676402C-5697-4E1C-873F-D02D1690AC5C}">
        <p15:threadingInfo timeZoneBias="0">
          <p15:parentCm authorId="0" idx="1"/>
        </p15:threadingInfo>
      </p:ext>
    </p:extLst>
  </p:cm>
</p:cmLst>
</file>

<file path=ppt/comments/modernComment_1.xml><?xml version="1.0" encoding="utf-8"?>
<p188:cmLst xmlns:a="http://schemas.openxmlformats.org/drawingml/2006/main" xmlns:p188="http://schemas.microsoft.com/office/powerpoint/2018/8/main">
  <p188:cm id="{22222222-0000-0000-0000-000000000001}" authorId="{11111111-AAAA-BBBB-CCCC-000000000001}" created="2026-09-22T12:00:00.000">
    <p188:replyLst>
      <p188:reply id="{33333333-0000-0000-0000-000000000001}" authorId="{11111111-AAAA-BBBB-CCCC-000000000002}" created="2026-09-22T13:30:00.000">
        <p188:txBody>
          <a:bodyPr/>
          <a:lstStyle/>
          <a:p>
            <a:r>
              <a:rPr lang="en-US"/>
              <a:t>أضفته في الشريحة 4</a:t>
            </a:r>
          </a:p>
        </p188:txBody>
      </p188:reply>
    </p188:replyLst>
    <p188:txBody>
      <a:bodyPr/>
      <a:lstStyle/>
      <a:p>
        <a:r>
          <a:rPr lang="en-US"/>
          <a:t>هل يمكن إضافة مثال عن AES؟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رحّب بالطلاب وقدّم المنهج.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اشرح مثلث CIA بأمثلة.</a:t>
            </a:r>
          </a:p>
          <a:p>
            <a:r>
              <a:t>اسأل الطلاب عن أمثلة.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C1" Type="http://schemas.openxmlformats.org/officeDocument/2006/relationships/comments" Target="../comments/commen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C2" Type="http://schemas.microsoft.com/office/2018/10/relationships/comments" Target="../comments/modernComment_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rtl="1"/>
            <a:r>
              <a:t>مقدمة في أمن المعلومات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rtl="1"/>
            <a:r>
              <a:t>المحاضرة 1 — Dr. Ahmed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المفاهيم الأساسية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1" algn="r"/>
            <a:r>
              <a:t>السرية Confidentiality</a:t>
            </a:r>
          </a:p>
          <a:p>
            <a:pPr lvl="1" rtl="1" algn="r"/>
            <a:r>
              <a:t>النزاهة Integrity والتحقق</a:t>
            </a:r>
          </a:p>
          <a:p>
            <a:pPr rtl="1" algn="r"/>
            <a:r>
              <a:t>التوفر Availability</a:t>
            </a:r>
          </a:p>
          <a:p>
            <a:pPr lvl="1" rtl="1" algn="r"/>
            <a:r>
              <a:t>مثال: هجوم DDoS على الخادم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مخطط الشبكة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6400800" cy="36027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80960" y="182880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2000" i="1"/>
              <a:t>الشكل 1: جدار حماية firewall بين الشبكتين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مقارنة الخوارزميات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10058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685800">
                <a:tc>
                  <a:txBody>
                    <a:bodyPr/>
                    <a:lstStyle/>
                    <a:p>
                      <a:pPr rtl="1" algn="r"/>
                      <a:r>
                        <a:t>الخوارزمية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 algn="r"/>
                      <a:r>
                        <a:t>النوع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 algn="r"/>
                      <a:r>
                        <a:t>طول المفتاح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rtl="1" algn="r"/>
                      <a:r>
                        <a:t>AES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 algn="r"/>
                      <a:r>
                        <a:t>متماثل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 algn="r"/>
                      <a:r>
                        <a:t>128/256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rtl="1" algn="r"/>
                      <a:r>
                        <a:t>RSA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 algn="r"/>
                      <a:r>
                        <a:t>غير متماثل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 algn="r"/>
                      <a:r>
                        <a:t>2048+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rtl="1" algn="r"/>
                      <a:r>
                        <a:t>SHA-256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 algn="r"/>
                      <a:r>
                        <a:t>تجزئة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 algn="r"/>
                      <a: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الأشكال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2011680" cy="12801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Plan</a:t>
            </a:r>
          </a:p>
        </p:txBody>
      </p:sp>
      <p:sp>
        <p:nvSpPr>
          <p:cNvPr id="4" name="Chevron 3"/>
          <p:cNvSpPr/>
          <p:nvPr/>
        </p:nvSpPr>
        <p:spPr>
          <a:xfrm>
            <a:off x="2971800" y="1828800"/>
            <a:ext cx="2011680" cy="128016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Do</a:t>
            </a:r>
          </a:p>
        </p:txBody>
      </p:sp>
      <p:sp>
        <p:nvSpPr>
          <p:cNvPr id="5" name="Oval 4"/>
          <p:cNvSpPr/>
          <p:nvPr/>
        </p:nvSpPr>
        <p:spPr>
          <a:xfrm>
            <a:off x="5212080" y="1828800"/>
            <a:ext cx="2011680" cy="128016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Check</a:t>
            </a:r>
          </a:p>
        </p:txBody>
      </p:sp>
      <p:sp>
        <p:nvSpPr>
          <p:cNvPr id="6" name="Right Arrow 5"/>
          <p:cNvSpPr/>
          <p:nvPr/>
        </p:nvSpPr>
        <p:spPr>
          <a:xfrm>
            <a:off x="7452360" y="1828800"/>
            <a:ext cx="2011680" cy="12801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Act</a:t>
            </a:r>
          </a:p>
        </p:txBody>
      </p:sp>
      <p:sp>
        <p:nvSpPr>
          <p:cNvPr id="7" name="Isosceles Triangle 6"/>
          <p:cNvSpPr/>
          <p:nvPr/>
        </p:nvSpPr>
        <p:spPr>
          <a:xfrm>
            <a:off x="9692640" y="1828800"/>
            <a:ext cx="2011680" cy="1280160"/>
          </a:xfrm>
          <a:prstGeom prst="triangl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!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1828800" y="4206240"/>
            <a:ext cx="6400800" cy="914400"/>
            <a:chOff x="1828800" y="4206240"/>
            <a:chExt cx="6400800" cy="914400"/>
          </a:xfrm>
        </p:grpSpPr>
        <p:sp>
          <p:nvSpPr>
            <p:cNvPr id="9" name="Rectangle 8"/>
            <p:cNvSpPr/>
            <p:nvPr/>
          </p:nvSpPr>
          <p:spPr>
            <a:xfrm>
              <a:off x="1828800" y="4206240"/>
              <a:ext cx="2743200" cy="914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Group A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5486400" y="4206240"/>
              <a:ext cx="2743200" cy="914400"/>
            </a:xfrm>
            <a:prstGeom prst="rect">
              <a:avLst/>
            </a:prstGeom>
            <a:solidFill>
              <a:srgbClr val="4CC38A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Group B</a:t>
              </a:r>
            </a:p>
          </p:txBody>
        </p:sp>
      </p:grpSp>
      <p:cxnSp>
        <p:nvCxnSpPr>
          <p:cNvPr id="11" name="Connector 10"/>
          <p:cNvCxnSpPr/>
          <p:nvPr/>
        </p:nvCxnSpPr>
        <p:spPr>
          <a:xfrm>
            <a:off x="4572000" y="4663440"/>
            <a:ext cx="91440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